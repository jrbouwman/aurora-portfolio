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6" r:id="rId3"/>
    <p:sldId id="259" r:id="rId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57CFE6-4AC6-6B44-9B8E-2BABB2163EEC}" v="3" dt="2026-04-15T09:20:05.1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Roelof Bouwman" userId="48071cc4-f17a-4ff3-9ba0-87c3e2805490" providerId="ADAL" clId="{1081F9F5-E7FE-58F6-9DF0-2935CA9D2395}"/>
    <pc:docChg chg="undo custSel addSld delSld modSld sldOrd">
      <pc:chgData name="Jan Roelof Bouwman" userId="48071cc4-f17a-4ff3-9ba0-87c3e2805490" providerId="ADAL" clId="{1081F9F5-E7FE-58F6-9DF0-2935CA9D2395}" dt="2026-04-19T14:27:23.460" v="31" actId="2696"/>
      <pc:docMkLst>
        <pc:docMk/>
      </pc:docMkLst>
      <pc:sldChg chg="modSp mod">
        <pc:chgData name="Jan Roelof Bouwman" userId="48071cc4-f17a-4ff3-9ba0-87c3e2805490" providerId="ADAL" clId="{1081F9F5-E7FE-58F6-9DF0-2935CA9D2395}" dt="2026-04-15T09:22:04.355" v="29" actId="20577"/>
        <pc:sldMkLst>
          <pc:docMk/>
          <pc:sldMk cId="0" sldId="256"/>
        </pc:sldMkLst>
        <pc:spChg chg="mod">
          <ac:chgData name="Jan Roelof Bouwman" userId="48071cc4-f17a-4ff3-9ba0-87c3e2805490" providerId="ADAL" clId="{1081F9F5-E7FE-58F6-9DF0-2935CA9D2395}" dt="2026-04-15T09:20:47.578" v="25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Jan Roelof Bouwman" userId="48071cc4-f17a-4ff3-9ba0-87c3e2805490" providerId="ADAL" clId="{1081F9F5-E7FE-58F6-9DF0-2935CA9D2395}" dt="2026-04-15T09:22:04.355" v="29" actId="20577"/>
          <ac:spMkLst>
            <pc:docMk/>
            <pc:sldMk cId="0" sldId="256"/>
            <ac:spMk id="8" creationId="{00000000-0000-0000-0000-000000000000}"/>
          </ac:spMkLst>
        </pc:spChg>
      </pc:sldChg>
      <pc:sldChg chg="del">
        <pc:chgData name="Jan Roelof Bouwman" userId="48071cc4-f17a-4ff3-9ba0-87c3e2805490" providerId="ADAL" clId="{1081F9F5-E7FE-58F6-9DF0-2935CA9D2395}" dt="2026-04-19T14:27:22.699" v="30" actId="2696"/>
        <pc:sldMkLst>
          <pc:docMk/>
          <pc:sldMk cId="0" sldId="257"/>
        </pc:sldMkLst>
      </pc:sldChg>
      <pc:sldChg chg="del">
        <pc:chgData name="Jan Roelof Bouwman" userId="48071cc4-f17a-4ff3-9ba0-87c3e2805490" providerId="ADAL" clId="{1081F9F5-E7FE-58F6-9DF0-2935CA9D2395}" dt="2026-04-19T14:27:23.460" v="31" actId="2696"/>
        <pc:sldMkLst>
          <pc:docMk/>
          <pc:sldMk cId="0" sldId="258"/>
        </pc:sldMkLst>
      </pc:sldChg>
      <pc:sldChg chg="addSp delSp modSp mod">
        <pc:chgData name="Jan Roelof Bouwman" userId="48071cc4-f17a-4ff3-9ba0-87c3e2805490" providerId="ADAL" clId="{1081F9F5-E7FE-58F6-9DF0-2935CA9D2395}" dt="2026-04-15T09:17:26.674" v="15" actId="1076"/>
        <pc:sldMkLst>
          <pc:docMk/>
          <pc:sldMk cId="0" sldId="259"/>
        </pc:sldMkLst>
        <pc:spChg chg="mod">
          <ac:chgData name="Jan Roelof Bouwman" userId="48071cc4-f17a-4ff3-9ba0-87c3e2805490" providerId="ADAL" clId="{1081F9F5-E7FE-58F6-9DF0-2935CA9D2395}" dt="2026-04-15T09:16:58.590" v="8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Jan Roelof Bouwman" userId="48071cc4-f17a-4ff3-9ba0-87c3e2805490" providerId="ADAL" clId="{1081F9F5-E7FE-58F6-9DF0-2935CA9D2395}" dt="2026-04-15T09:17:26.674" v="15" actId="1076"/>
          <ac:spMkLst>
            <pc:docMk/>
            <pc:sldMk cId="0" sldId="259"/>
            <ac:spMk id="28" creationId="{00000000-0000-0000-0000-000000000000}"/>
          </ac:spMkLst>
        </pc:spChg>
        <pc:picChg chg="add mod">
          <ac:chgData name="Jan Roelof Bouwman" userId="48071cc4-f17a-4ff3-9ba0-87c3e2805490" providerId="ADAL" clId="{1081F9F5-E7FE-58F6-9DF0-2935CA9D2395}" dt="2026-04-15T09:17:04.266" v="10" actId="1076"/>
          <ac:picMkLst>
            <pc:docMk/>
            <pc:sldMk cId="0" sldId="259"/>
            <ac:picMk id="43" creationId="{5636DD46-2E93-0BB5-F0D1-3592E8379BA5}"/>
          </ac:picMkLst>
        </pc:picChg>
        <pc:picChg chg="add mod">
          <ac:chgData name="Jan Roelof Bouwman" userId="48071cc4-f17a-4ff3-9ba0-87c3e2805490" providerId="ADAL" clId="{1081F9F5-E7FE-58F6-9DF0-2935CA9D2395}" dt="2026-04-15T09:17:01.463" v="9" actId="1076"/>
          <ac:picMkLst>
            <pc:docMk/>
            <pc:sldMk cId="0" sldId="259"/>
            <ac:picMk id="45" creationId="{E51741A4-D742-7E0A-6BD5-DB0E52219862}"/>
          </ac:picMkLst>
        </pc:picChg>
      </pc:sldChg>
      <pc:sldChg chg="modSp add mod ord">
        <pc:chgData name="Jan Roelof Bouwman" userId="48071cc4-f17a-4ff3-9ba0-87c3e2805490" providerId="ADAL" clId="{1081F9F5-E7FE-58F6-9DF0-2935CA9D2395}" dt="2026-04-15T09:21:47.914" v="26" actId="20577"/>
        <pc:sldMkLst>
          <pc:docMk/>
          <pc:sldMk cId="0" sldId="260"/>
        </pc:sldMkLst>
        <pc:spChg chg="mod">
          <ac:chgData name="Jan Roelof Bouwman" userId="48071cc4-f17a-4ff3-9ba0-87c3e2805490" providerId="ADAL" clId="{1081F9F5-E7FE-58F6-9DF0-2935CA9D2395}" dt="2026-04-15T09:20:42.923" v="23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Jan Roelof Bouwman" userId="48071cc4-f17a-4ff3-9ba0-87c3e2805490" providerId="ADAL" clId="{1081F9F5-E7FE-58F6-9DF0-2935CA9D2395}" dt="2026-04-15T09:21:47.914" v="26" actId="20577"/>
          <ac:spMkLst>
            <pc:docMk/>
            <pc:sldMk cId="0" sldId="260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716" y="0"/>
            <a:ext cx="12188952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411480" cy="2834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868680"/>
            <a:ext cx="4572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08760" y="749808"/>
            <a:ext cx="73152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F59E0B"/>
                </a:solidFill>
                <a:latin typeface="Calibri"/>
              </a:rPr>
              <a:t>INNOVATIEMANAGEMENT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200" b="1">
                <a:solidFill>
                  <a:srgbClr val="2D2938"/>
                </a:solidFill>
                <a:latin typeface="Calibri"/>
              </a:rPr>
              <a:t>Aurora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200" b="1">
                <a:solidFill>
                  <a:srgbClr val="F59E0B"/>
                </a:solidFill>
                <a:latin typeface="Calibri"/>
              </a:rPr>
              <a:t>Beyond 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>
                <a:solidFill>
                  <a:srgbClr val="2D2938"/>
                </a:solidFill>
                <a:latin typeface="Calibri"/>
              </a:rPr>
              <a:t>De pivot: van natte handtekening naar gekoppelde identiteit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983480"/>
            <a:ext cx="3200400" cy="27432"/>
          </a:xfrm>
          <a:prstGeom prst="rect">
            <a:avLst/>
          </a:prstGeom>
          <a:solidFill>
            <a:srgbClr val="2D2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1663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2D2938"/>
                </a:solidFill>
                <a:latin typeface="Calibri"/>
              </a:rPr>
              <a:t>Anke Maassen van den Brink  ·  Lianne van Os  ·  Jr Bouwman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6173"/>
                </a:solidFill>
                <a:latin typeface="Calibri"/>
              </a:rPr>
              <a:t>Technische Bedrijfskunde  ·  Windesheim  ·  2025–2026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6173"/>
                </a:solidFill>
                <a:latin typeface="Calibri"/>
              </a:rPr>
              <a:t>Casus: Aurora Writing Instruments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65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32918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PIVOT · AURORA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2D2938"/>
                </a:solidFill>
                <a:latin typeface="Calibri"/>
              </a:rPr>
              <a:t>Van natte handtekening naar gekoppelde identiteit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6B6173"/>
                </a:solidFill>
                <a:latin typeface="Calibri"/>
              </a:rPr>
              <a:t>Het papier en de pen blijven. Het bewijs verschuift.</a:t>
            </a:r>
          </a:p>
        </p:txBody>
      </p:sp>
      <p:pic>
        <p:nvPicPr>
          <p:cNvPr id="7" name="Picture 6" descr="hoogover-ex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503" y="1693229"/>
            <a:ext cx="8455551" cy="50733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3796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dirty="0">
                <a:solidFill>
                  <a:srgbClr val="6B6173"/>
                </a:solidFill>
                <a:latin typeface="Calibri"/>
              </a:rPr>
              <a:t>Anke · Lianne · Jr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-22071"/>
            <a:ext cx="12188952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65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329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VALUE PROPOSITION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D2938"/>
                </a:solidFill>
                <a:latin typeface="Calibri"/>
              </a:rPr>
              <a:t>Waar Aurora's aanbod de klant raakt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Calibri"/>
              </a:rPr>
              <a:t>VALUE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25272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6173"/>
                </a:solidFill>
                <a:latin typeface="Calibri"/>
              </a:rPr>
              <a:t>Aurora + techpartner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00200"/>
            <a:ext cx="5577840" cy="4937760"/>
          </a:xfrm>
          <a:prstGeom prst="rect">
            <a:avLst/>
          </a:prstGeom>
          <a:solidFill>
            <a:srgbClr val="FFFFFF"/>
          </a:solidFill>
          <a:ln w="25400">
            <a:solidFill>
              <a:srgbClr val="2D29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411480" y="1600200"/>
            <a:ext cx="5577840" cy="0"/>
          </a:xfrm>
          <a:prstGeom prst="line">
            <a:avLst/>
          </a:prstGeom>
          <a:ln w="19050">
            <a:solidFill>
              <a:srgbClr val="2D29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3291840"/>
            <a:ext cx="3200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spc="150">
                <a:solidFill>
                  <a:srgbClr val="2D2938"/>
                </a:solidFill>
                <a:latin typeface="Calibri"/>
              </a:rPr>
              <a:t>PRODUCTS &amp;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828800"/>
            <a:ext cx="2560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400" b="1" spc="150">
                <a:solidFill>
                  <a:srgbClr val="2D2938"/>
                </a:solidFill>
                <a:latin typeface="Calibri"/>
              </a:rPr>
              <a:t>GAIN CREATORS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6035040"/>
            <a:ext cx="2560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400" b="1" spc="150">
                <a:solidFill>
                  <a:srgbClr val="2D2938"/>
                </a:solidFill>
                <a:latin typeface="Calibri"/>
              </a:rPr>
              <a:t>PAIN RELIEVERS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49040"/>
            <a:ext cx="36576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dirty="0">
                <a:solidFill>
                  <a:srgbClr val="F59E0B"/>
                </a:solidFill>
                <a:latin typeface="Calibri"/>
              </a:rPr>
              <a:t>•  </a:t>
            </a:r>
            <a:r>
              <a:rPr sz="1300" dirty="0" err="1">
                <a:solidFill>
                  <a:srgbClr val="2D2938"/>
                </a:solidFill>
                <a:latin typeface="Calibri"/>
              </a:rPr>
              <a:t>Kennismodel</a:t>
            </a:r>
            <a:r>
              <a:rPr sz="1300" dirty="0">
                <a:solidFill>
                  <a:srgbClr val="2D2938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D2938"/>
                </a:solidFill>
                <a:latin typeface="Calibri"/>
              </a:rPr>
              <a:t>voor</a:t>
            </a:r>
            <a:r>
              <a:rPr sz="1300" dirty="0">
                <a:solidFill>
                  <a:srgbClr val="2D2938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D2938"/>
                </a:solidFill>
                <a:latin typeface="Calibri"/>
              </a:rPr>
              <a:t>authenticiteit</a:t>
            </a:r>
            <a:endParaRPr sz="1300" dirty="0">
              <a:solidFill>
                <a:srgbClr val="2D2938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sz="1300" b="1" dirty="0">
                <a:solidFill>
                  <a:srgbClr val="F59E0B"/>
                </a:solidFill>
                <a:latin typeface="Calibri"/>
              </a:rPr>
              <a:t>•  </a:t>
            </a:r>
            <a:r>
              <a:rPr sz="1300" dirty="0" err="1">
                <a:solidFill>
                  <a:srgbClr val="2D2938"/>
                </a:solidFill>
                <a:latin typeface="Calibri"/>
              </a:rPr>
              <a:t>Verificatiestation</a:t>
            </a:r>
            <a:r>
              <a:rPr sz="1300" dirty="0">
                <a:solidFill>
                  <a:srgbClr val="2D2938"/>
                </a:solidFill>
                <a:latin typeface="Calibri"/>
              </a:rPr>
              <a:t>: ID + PIN</a:t>
            </a:r>
          </a:p>
          <a:p>
            <a:pPr algn="l">
              <a:spcAft>
                <a:spcPts val="300"/>
              </a:spcAft>
            </a:pPr>
            <a:r>
              <a:rPr sz="1300" b="1" dirty="0">
                <a:solidFill>
                  <a:srgbClr val="F59E0B"/>
                </a:solidFill>
                <a:latin typeface="Calibri"/>
              </a:rPr>
              <a:t>•  </a:t>
            </a:r>
            <a:r>
              <a:rPr sz="1300" dirty="0" err="1">
                <a:solidFill>
                  <a:srgbClr val="2D2938"/>
                </a:solidFill>
                <a:latin typeface="Calibri"/>
              </a:rPr>
              <a:t>Koppeling</a:t>
            </a:r>
            <a:r>
              <a:rPr sz="1300" dirty="0">
                <a:solidFill>
                  <a:srgbClr val="2D2938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D2938"/>
                </a:solidFill>
                <a:latin typeface="Calibri"/>
              </a:rPr>
              <a:t>handtekening</a:t>
            </a:r>
            <a:r>
              <a:rPr sz="1300" dirty="0">
                <a:solidFill>
                  <a:srgbClr val="2D2938"/>
                </a:solidFill>
                <a:latin typeface="Calibri"/>
              </a:rPr>
              <a:t> ↔ code</a:t>
            </a:r>
          </a:p>
          <a:p>
            <a:pPr algn="l">
              <a:spcAft>
                <a:spcPts val="300"/>
              </a:spcAft>
            </a:pPr>
            <a:r>
              <a:rPr sz="1300" b="1" dirty="0">
                <a:solidFill>
                  <a:srgbClr val="F59E0B"/>
                </a:solidFill>
                <a:latin typeface="Calibri"/>
              </a:rPr>
              <a:t>•  </a:t>
            </a:r>
            <a:r>
              <a:rPr sz="1300" dirty="0" err="1">
                <a:solidFill>
                  <a:srgbClr val="2D2938"/>
                </a:solidFill>
                <a:latin typeface="Calibri"/>
              </a:rPr>
              <a:t>Implementatie-ondersteuning</a:t>
            </a:r>
            <a:endParaRPr sz="1300" dirty="0">
              <a:solidFill>
                <a:srgbClr val="2D2938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54680" y="2194560"/>
            <a:ext cx="26517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•  </a:t>
            </a:r>
            <a:r>
              <a:rPr sz="1100">
                <a:solidFill>
                  <a:srgbClr val="2D2938"/>
                </a:solidFill>
                <a:latin typeface="Calibri"/>
              </a:rPr>
              <a:t>Juridisch waterdichte audittrail</a:t>
            </a:r>
          </a:p>
          <a:p>
            <a:pPr algn="r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•  </a:t>
            </a:r>
            <a:r>
              <a:rPr sz="1100">
                <a:solidFill>
                  <a:srgbClr val="2D2938"/>
                </a:solidFill>
                <a:latin typeface="Calibri"/>
              </a:rPr>
              <a:t>Schaalbaar over transacties</a:t>
            </a:r>
          </a:p>
          <a:p>
            <a:pPr algn="r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•  </a:t>
            </a:r>
            <a:r>
              <a:rPr sz="1100">
                <a:solidFill>
                  <a:srgbClr val="2D2938"/>
                </a:solidFill>
                <a:latin typeface="Calibri"/>
              </a:rPr>
              <a:t>Compliance-klaar</a:t>
            </a:r>
          </a:p>
          <a:p>
            <a:pPr algn="r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•  </a:t>
            </a:r>
            <a:r>
              <a:rPr sz="1100">
                <a:solidFill>
                  <a:srgbClr val="2D2938"/>
                </a:solidFill>
                <a:latin typeface="Calibri"/>
              </a:rPr>
              <a:t>Domeinkennis geeft gezag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5143500"/>
            <a:ext cx="26517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 dirty="0">
                <a:solidFill>
                  <a:srgbClr val="F59E0B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Objectieve</a:t>
            </a:r>
            <a:r>
              <a:rPr sz="1100" dirty="0">
                <a:solidFill>
                  <a:srgbClr val="2D2938"/>
                </a:solidFill>
                <a:latin typeface="Calibri"/>
              </a:rPr>
              <a:t> ID-check</a:t>
            </a:r>
          </a:p>
          <a:p>
            <a:pPr algn="r">
              <a:spcAft>
                <a:spcPts val="300"/>
              </a:spcAft>
            </a:pPr>
            <a:r>
              <a:rPr sz="1100" b="1" dirty="0">
                <a:solidFill>
                  <a:srgbClr val="F59E0B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Gescande</a:t>
            </a:r>
            <a:r>
              <a:rPr sz="1100" dirty="0">
                <a:solidFill>
                  <a:srgbClr val="2D2938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handtekening</a:t>
            </a:r>
            <a:r>
              <a:rPr sz="1100" dirty="0">
                <a:solidFill>
                  <a:srgbClr val="2D2938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rechtsgeldig</a:t>
            </a:r>
            <a:endParaRPr sz="1100" dirty="0">
              <a:solidFill>
                <a:srgbClr val="2D2938"/>
              </a:solidFill>
              <a:latin typeface="Calibri"/>
            </a:endParaRPr>
          </a:p>
          <a:p>
            <a:pPr algn="r">
              <a:spcAft>
                <a:spcPts val="300"/>
              </a:spcAft>
            </a:pPr>
            <a:r>
              <a:rPr sz="1100" b="1" dirty="0">
                <a:solidFill>
                  <a:srgbClr val="F59E0B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Fraudesignalen</a:t>
            </a:r>
            <a:r>
              <a:rPr sz="1100" dirty="0">
                <a:solidFill>
                  <a:srgbClr val="2D2938"/>
                </a:solidFill>
                <a:latin typeface="Calibri"/>
              </a:rPr>
              <a:t> direct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zichtbaar</a:t>
            </a:r>
            <a:endParaRPr sz="1100" dirty="0">
              <a:solidFill>
                <a:srgbClr val="2D2938"/>
              </a:solidFill>
              <a:latin typeface="Calibri"/>
            </a:endParaRPr>
          </a:p>
          <a:p>
            <a:pPr algn="r">
              <a:spcAft>
                <a:spcPts val="300"/>
              </a:spcAft>
            </a:pPr>
            <a:r>
              <a:rPr sz="1100" b="1" dirty="0">
                <a:solidFill>
                  <a:srgbClr val="F59E0B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Digitaal</a:t>
            </a:r>
            <a:r>
              <a:rPr sz="1100" dirty="0">
                <a:solidFill>
                  <a:srgbClr val="2D2938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doorzoekbaar</a:t>
            </a:r>
            <a:r>
              <a:rPr sz="1100" dirty="0">
                <a:solidFill>
                  <a:srgbClr val="2D2938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archief</a:t>
            </a:r>
            <a:endParaRPr sz="1100" dirty="0">
              <a:solidFill>
                <a:srgbClr val="2D2938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12344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2D2938"/>
                </a:solidFill>
                <a:latin typeface="Calibri"/>
              </a:rPr>
              <a:t>CUSTOMER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125272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6173"/>
                </a:solidFill>
                <a:latin typeface="Calibri"/>
              </a:rPr>
              <a:t>Notaris, bank, gemeente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1600200"/>
            <a:ext cx="4937760" cy="4937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D29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 flipV="1">
            <a:off x="0" y="1600200"/>
            <a:ext cx="0" cy="0"/>
          </a:xfrm>
          <a:prstGeom prst="line">
            <a:avLst/>
          </a:prstGeom>
          <a:ln w="19050">
            <a:solidFill>
              <a:srgbClr val="2D29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400800" y="0"/>
            <a:ext cx="0" cy="0"/>
          </a:xfrm>
          <a:prstGeom prst="line">
            <a:avLst/>
          </a:prstGeom>
          <a:ln w="19050">
            <a:solidFill>
              <a:srgbClr val="2D29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2D29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223760" y="2483857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spc="150" dirty="0">
                <a:solidFill>
                  <a:srgbClr val="2D2938"/>
                </a:solidFill>
                <a:latin typeface="Calibri"/>
              </a:rPr>
              <a:t>GAINS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7208" y="4226472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spc="150" dirty="0">
                <a:solidFill>
                  <a:srgbClr val="2D2938"/>
                </a:solidFill>
                <a:latin typeface="Calibri"/>
              </a:rPr>
              <a:t>PAINS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406929"/>
            <a:ext cx="20116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400" b="1" spc="150" dirty="0">
                <a:solidFill>
                  <a:srgbClr val="2D2938"/>
                </a:solidFill>
                <a:latin typeface="Calibri"/>
              </a:rPr>
              <a:t>JOB-TO-BE-DONE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0242" y="2978635"/>
            <a:ext cx="20116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dirty="0">
                <a:solidFill>
                  <a:srgbClr val="2D2938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Juridische</a:t>
            </a:r>
            <a:r>
              <a:rPr sz="1100" dirty="0">
                <a:solidFill>
                  <a:srgbClr val="2D2938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zekerheid</a:t>
            </a:r>
            <a:endParaRPr sz="1100" dirty="0">
              <a:solidFill>
                <a:srgbClr val="2D2938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sz="1100" b="1" dirty="0">
                <a:solidFill>
                  <a:srgbClr val="2D2938"/>
                </a:solidFill>
                <a:latin typeface="Calibri"/>
              </a:rPr>
              <a:t>•  </a:t>
            </a:r>
            <a:r>
              <a:rPr sz="1100" dirty="0">
                <a:solidFill>
                  <a:srgbClr val="2D2938"/>
                </a:solidFill>
                <a:latin typeface="Calibri"/>
              </a:rPr>
              <a:t>Sneller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proces</a:t>
            </a:r>
            <a:endParaRPr sz="1100" dirty="0">
              <a:solidFill>
                <a:srgbClr val="2D2938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sz="1100" b="1" dirty="0">
                <a:solidFill>
                  <a:srgbClr val="2D2938"/>
                </a:solidFill>
                <a:latin typeface="Calibri"/>
              </a:rPr>
              <a:t>•  </a:t>
            </a:r>
            <a:r>
              <a:rPr sz="1100" dirty="0">
                <a:solidFill>
                  <a:srgbClr val="2D2938"/>
                </a:solidFill>
                <a:latin typeface="Calibri"/>
              </a:rPr>
              <a:t>Minder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administratie</a:t>
            </a:r>
            <a:endParaRPr sz="1100" dirty="0">
              <a:solidFill>
                <a:srgbClr val="2D2938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sz="1100" b="1" dirty="0">
                <a:solidFill>
                  <a:srgbClr val="2D2938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Vertrouwen</a:t>
            </a:r>
            <a:r>
              <a:rPr sz="1100" dirty="0">
                <a:solidFill>
                  <a:srgbClr val="2D2938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eindklant</a:t>
            </a:r>
            <a:endParaRPr sz="1100" dirty="0">
              <a:solidFill>
                <a:srgbClr val="2D2938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18960" y="4665803"/>
            <a:ext cx="20116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dirty="0">
                <a:solidFill>
                  <a:srgbClr val="2D2938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Vervalsing</a:t>
            </a:r>
            <a:r>
              <a:rPr sz="1100" dirty="0">
                <a:solidFill>
                  <a:srgbClr val="2D2938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lastig</a:t>
            </a:r>
            <a:r>
              <a:rPr sz="1100" dirty="0">
                <a:solidFill>
                  <a:srgbClr val="2D2938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bewijsbaar</a:t>
            </a:r>
            <a:endParaRPr sz="1100" dirty="0">
              <a:solidFill>
                <a:srgbClr val="2D2938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sz="1100" b="1" dirty="0">
                <a:solidFill>
                  <a:srgbClr val="2D2938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Visuele</a:t>
            </a:r>
            <a:r>
              <a:rPr sz="1100" dirty="0">
                <a:solidFill>
                  <a:srgbClr val="2D2938"/>
                </a:solidFill>
                <a:latin typeface="Calibri"/>
              </a:rPr>
              <a:t> ID-check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foutgevoelig</a:t>
            </a:r>
            <a:endParaRPr sz="1100" dirty="0">
              <a:solidFill>
                <a:srgbClr val="2D2938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sz="1100" b="1" dirty="0">
                <a:solidFill>
                  <a:srgbClr val="2D2938"/>
                </a:solidFill>
                <a:latin typeface="Calibri"/>
              </a:rPr>
              <a:t>•  </a:t>
            </a:r>
            <a:r>
              <a:rPr sz="1100" dirty="0">
                <a:solidFill>
                  <a:srgbClr val="2D2938"/>
                </a:solidFill>
                <a:latin typeface="Calibri"/>
              </a:rPr>
              <a:t>Scan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niet</a:t>
            </a:r>
            <a:r>
              <a:rPr sz="1100" dirty="0">
                <a:solidFill>
                  <a:srgbClr val="2D2938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rechtsgeldig</a:t>
            </a:r>
            <a:endParaRPr sz="1100" dirty="0">
              <a:solidFill>
                <a:srgbClr val="2D2938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sz="1100" b="1" dirty="0">
                <a:solidFill>
                  <a:srgbClr val="2D2938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Fraude</a:t>
            </a:r>
            <a:r>
              <a:rPr sz="1100" dirty="0">
                <a:solidFill>
                  <a:srgbClr val="2D2938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komt</a:t>
            </a:r>
            <a:r>
              <a:rPr sz="1100" dirty="0">
                <a:solidFill>
                  <a:srgbClr val="2D2938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laat</a:t>
            </a:r>
            <a:r>
              <a:rPr sz="1100" dirty="0">
                <a:solidFill>
                  <a:srgbClr val="2D2938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aan</a:t>
            </a:r>
            <a:r>
              <a:rPr sz="1100" dirty="0">
                <a:solidFill>
                  <a:srgbClr val="2D2938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D2938"/>
                </a:solidFill>
                <a:latin typeface="Calibri"/>
              </a:rPr>
              <a:t>licht</a:t>
            </a:r>
            <a:endParaRPr sz="1100" dirty="0">
              <a:solidFill>
                <a:srgbClr val="2D2938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218602" y="3717920"/>
            <a:ext cx="2468880" cy="854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dirty="0">
                <a:solidFill>
                  <a:srgbClr val="2D2938"/>
                </a:solidFill>
                <a:latin typeface="Calibri"/>
              </a:rPr>
              <a:t>•  </a:t>
            </a:r>
            <a:r>
              <a:rPr sz="1200" dirty="0" err="1">
                <a:solidFill>
                  <a:srgbClr val="2D2938"/>
                </a:solidFill>
                <a:latin typeface="Calibri"/>
              </a:rPr>
              <a:t>Juiste</a:t>
            </a:r>
            <a:r>
              <a:rPr sz="1200" dirty="0">
                <a:solidFill>
                  <a:srgbClr val="2D2938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D2938"/>
                </a:solidFill>
                <a:latin typeface="Calibri"/>
              </a:rPr>
              <a:t>persoon</a:t>
            </a:r>
            <a:r>
              <a:rPr sz="1200" dirty="0">
                <a:solidFill>
                  <a:srgbClr val="2D2938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D2938"/>
                </a:solidFill>
                <a:latin typeface="Calibri"/>
              </a:rPr>
              <a:t>tekent</a:t>
            </a:r>
            <a:endParaRPr lang="en-US" sz="1200" dirty="0">
              <a:solidFill>
                <a:srgbClr val="2D2938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lang="nl-NL" sz="1200" b="1" dirty="0">
                <a:solidFill>
                  <a:srgbClr val="2D2938"/>
                </a:solidFill>
              </a:rPr>
              <a:t>•  </a:t>
            </a:r>
            <a:r>
              <a:rPr lang="nl-NL" sz="1200" dirty="0">
                <a:solidFill>
                  <a:srgbClr val="2D2938"/>
                </a:solidFill>
              </a:rPr>
              <a:t>Rechtsgeldig laten ondertekenen</a:t>
            </a:r>
            <a:endParaRPr sz="1200" dirty="0">
              <a:solidFill>
                <a:srgbClr val="2D2938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sz="1200" b="1" dirty="0">
                <a:solidFill>
                  <a:srgbClr val="2D2938"/>
                </a:solidFill>
                <a:latin typeface="Calibri"/>
              </a:rPr>
              <a:t>•  </a:t>
            </a:r>
            <a:r>
              <a:rPr sz="1200" dirty="0" err="1">
                <a:solidFill>
                  <a:srgbClr val="2D2938"/>
                </a:solidFill>
                <a:latin typeface="Calibri"/>
              </a:rPr>
              <a:t>Audittrail</a:t>
            </a:r>
            <a:r>
              <a:rPr sz="1200" dirty="0">
                <a:solidFill>
                  <a:srgbClr val="2D2938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D2938"/>
                </a:solidFill>
                <a:latin typeface="Calibri"/>
              </a:rPr>
              <a:t>voor</a:t>
            </a:r>
            <a:r>
              <a:rPr sz="1200" dirty="0">
                <a:solidFill>
                  <a:srgbClr val="2D2938"/>
                </a:solidFill>
                <a:latin typeface="Calibri"/>
              </a:rPr>
              <a:t> compliance</a:t>
            </a:r>
          </a:p>
          <a:p>
            <a:pPr algn="l">
              <a:spcAft>
                <a:spcPts val="300"/>
              </a:spcAft>
            </a:pPr>
            <a:r>
              <a:rPr sz="1200" b="1" dirty="0">
                <a:solidFill>
                  <a:srgbClr val="2D2938"/>
                </a:solidFill>
                <a:latin typeface="Calibri"/>
              </a:rPr>
              <a:t>•  </a:t>
            </a:r>
            <a:r>
              <a:rPr sz="1200" dirty="0" err="1">
                <a:solidFill>
                  <a:srgbClr val="2D2938"/>
                </a:solidFill>
                <a:latin typeface="Calibri"/>
              </a:rPr>
              <a:t>Klanten</a:t>
            </a:r>
            <a:r>
              <a:rPr sz="1200" dirty="0">
                <a:solidFill>
                  <a:srgbClr val="2D2938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D2938"/>
                </a:solidFill>
                <a:latin typeface="Calibri"/>
              </a:rPr>
              <a:t>snel</a:t>
            </a:r>
            <a:r>
              <a:rPr sz="1200" dirty="0">
                <a:solidFill>
                  <a:srgbClr val="2D2938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D2938"/>
                </a:solidFill>
                <a:latin typeface="Calibri"/>
              </a:rPr>
              <a:t>bedienen</a:t>
            </a:r>
            <a:endParaRPr sz="1200" dirty="0">
              <a:solidFill>
                <a:srgbClr val="2D2938"/>
              </a:solidFill>
              <a:latin typeface="Calibri"/>
            </a:endParaRPr>
          </a:p>
        </p:txBody>
      </p:sp>
      <p:cxnSp>
        <p:nvCxnSpPr>
          <p:cNvPr id="30" name="Rechte verbindingslijn 29">
            <a:extLst>
              <a:ext uri="{FF2B5EF4-FFF2-40B4-BE49-F238E27FC236}">
                <a16:creationId xmlns:a16="http://schemas.microsoft.com/office/drawing/2014/main" id="{E841159D-947C-68FC-C154-C6FBA566BB56}"/>
              </a:ext>
            </a:extLst>
          </p:cNvPr>
          <p:cNvCxnSpPr>
            <a:stCxn id="8" idx="0"/>
          </p:cNvCxnSpPr>
          <p:nvPr/>
        </p:nvCxnSpPr>
        <p:spPr>
          <a:xfrm flipH="1">
            <a:off x="3154680" y="1600200"/>
            <a:ext cx="45720" cy="49377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Rechte verbindingslijn 31">
            <a:extLst>
              <a:ext uri="{FF2B5EF4-FFF2-40B4-BE49-F238E27FC236}">
                <a16:creationId xmlns:a16="http://schemas.microsoft.com/office/drawing/2014/main" id="{96802357-65A0-93BB-9590-2F4F65AE0CBC}"/>
              </a:ext>
            </a:extLst>
          </p:cNvPr>
          <p:cNvCxnSpPr>
            <a:cxnSpLocks/>
            <a:endCxn id="8" idx="3"/>
          </p:cNvCxnSpPr>
          <p:nvPr/>
        </p:nvCxnSpPr>
        <p:spPr>
          <a:xfrm>
            <a:off x="3200400" y="4069080"/>
            <a:ext cx="27889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Rechte verbindingslijn 33">
            <a:extLst>
              <a:ext uri="{FF2B5EF4-FFF2-40B4-BE49-F238E27FC236}">
                <a16:creationId xmlns:a16="http://schemas.microsoft.com/office/drawing/2014/main" id="{2E04DC71-1B08-0AC3-A328-E1EB7E0CACFE}"/>
              </a:ext>
            </a:extLst>
          </p:cNvPr>
          <p:cNvCxnSpPr>
            <a:cxnSpLocks/>
            <a:endCxn id="19" idx="7"/>
          </p:cNvCxnSpPr>
          <p:nvPr/>
        </p:nvCxnSpPr>
        <p:spPr>
          <a:xfrm flipV="1">
            <a:off x="8839200" y="2323318"/>
            <a:ext cx="1776242" cy="17457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Rechte verbindingslijn 36">
            <a:extLst>
              <a:ext uri="{FF2B5EF4-FFF2-40B4-BE49-F238E27FC236}">
                <a16:creationId xmlns:a16="http://schemas.microsoft.com/office/drawing/2014/main" id="{EF9CA1AE-BFC3-52EA-FE95-BBAE0AEDEDFF}"/>
              </a:ext>
            </a:extLst>
          </p:cNvPr>
          <p:cNvCxnSpPr>
            <a:cxnSpLocks/>
            <a:endCxn id="19" idx="5"/>
          </p:cNvCxnSpPr>
          <p:nvPr/>
        </p:nvCxnSpPr>
        <p:spPr>
          <a:xfrm>
            <a:off x="8839200" y="4069080"/>
            <a:ext cx="1776242" cy="17457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Rechte verbindingslijn 39">
            <a:extLst>
              <a:ext uri="{FF2B5EF4-FFF2-40B4-BE49-F238E27FC236}">
                <a16:creationId xmlns:a16="http://schemas.microsoft.com/office/drawing/2014/main" id="{92EB5733-71E0-5A2D-8CCD-387F70E8FA2D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6400800" y="4069080"/>
            <a:ext cx="24688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3" name="Graphic 42" descr="Gebruiker silhouet">
            <a:extLst>
              <a:ext uri="{FF2B5EF4-FFF2-40B4-BE49-F238E27FC236}">
                <a16:creationId xmlns:a16="http://schemas.microsoft.com/office/drawing/2014/main" id="{5636DD46-2E93-0BB5-F0D1-3592E8379B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21922" y="1783080"/>
            <a:ext cx="914400" cy="914400"/>
          </a:xfrm>
          <a:prstGeom prst="rect">
            <a:avLst/>
          </a:prstGeom>
        </p:spPr>
      </p:pic>
      <p:pic>
        <p:nvPicPr>
          <p:cNvPr id="45" name="Graphic 44" descr="Cadeau silhouet">
            <a:extLst>
              <a:ext uri="{FF2B5EF4-FFF2-40B4-BE49-F238E27FC236}">
                <a16:creationId xmlns:a16="http://schemas.microsoft.com/office/drawing/2014/main" id="{E51741A4-D742-7E0A-6BD5-DB0E522198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1563624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185</Words>
  <Application>Microsoft Macintosh PowerPoint</Application>
  <PresentationFormat>Aangepast</PresentationFormat>
  <Paragraphs>47</Paragraphs>
  <Slides>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PowerPoint-presentatie</vt:lpstr>
      <vt:lpstr>PowerPoint-presentatie</vt:lpstr>
      <vt:lpstr>PowerPoint-presentatie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Jan Roelof Bouwman</cp:lastModifiedBy>
  <cp:revision>2</cp:revision>
  <dcterms:created xsi:type="dcterms:W3CDTF">2013-01-27T09:14:16Z</dcterms:created>
  <dcterms:modified xsi:type="dcterms:W3CDTF">2026-04-19T14:27:25Z</dcterms:modified>
  <cp:category/>
</cp:coreProperties>
</file>